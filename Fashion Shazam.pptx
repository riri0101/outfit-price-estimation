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lus Jakarta Sans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Plus Jakarta Sans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PlusJakartaSansMedium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usJakartaSansMedium-italic.fntdata"/><Relationship Id="rId25" Type="http://schemas.openxmlformats.org/officeDocument/2006/relationships/font" Target="fonts/PlusJakartaSansMedium-bold.fntdata"/><Relationship Id="rId27" Type="http://schemas.openxmlformats.org/officeDocument/2006/relationships/font" Target="fonts/PlusJakartaSans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usJakartaSans-bold.fntdata"/><Relationship Id="rId16" Type="http://schemas.openxmlformats.org/officeDocument/2006/relationships/font" Target="fonts/PlusJakartaSans-regular.fntdata"/><Relationship Id="rId19" Type="http://schemas.openxmlformats.org/officeDocument/2006/relationships/font" Target="fonts/PlusJakartaSans-boldItalic.fntdata"/><Relationship Id="rId18" Type="http://schemas.openxmlformats.org/officeDocument/2006/relationships/font" Target="fonts/PlusJakartaSa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e5bdc505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ae5bdc505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e5bdc505e_3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ae5bdc505e_3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e5bdc505e_3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ae5bdc505e_3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e5bdc505e_3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ae5bdc505e_3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e5bdc505e_3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ae5bdc505e_3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“Once we finalized the architecture, we focused on training efficiency and model stability.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We used </a:t>
            </a:r>
            <a:r>
              <a:rPr b="1" lang="en">
                <a:solidFill>
                  <a:schemeClr val="dk1"/>
                </a:solidFill>
              </a:rPr>
              <a:t>PyTorch with GPU acceleration</a:t>
            </a:r>
            <a:r>
              <a:rPr lang="en">
                <a:solidFill>
                  <a:schemeClr val="dk1"/>
                </a:solidFill>
              </a:rPr>
              <a:t> and a </a:t>
            </a:r>
            <a:r>
              <a:rPr b="1" lang="en">
                <a:solidFill>
                  <a:schemeClr val="dk1"/>
                </a:solidFill>
              </a:rPr>
              <a:t>batch size of 128</a:t>
            </a:r>
            <a:r>
              <a:rPr lang="en">
                <a:solidFill>
                  <a:schemeClr val="dk1"/>
                </a:solidFill>
              </a:rPr>
              <a:t> to process images quickly.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prevent overfitting while keeping training simple, we added </a:t>
            </a:r>
            <a:r>
              <a:rPr b="1" lang="en">
                <a:solidFill>
                  <a:schemeClr val="dk1"/>
                </a:solidFill>
              </a:rPr>
              <a:t>light data augmentation</a:t>
            </a:r>
            <a:r>
              <a:rPr lang="en">
                <a:solidFill>
                  <a:schemeClr val="dk1"/>
                </a:solidFill>
              </a:rPr>
              <a:t> — things like random crops and horizontal flips — so the model sees more real-world variation in how clothing is positioned.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optimized using </a:t>
            </a:r>
            <a:r>
              <a:rPr b="1" lang="en">
                <a:solidFill>
                  <a:schemeClr val="dk1"/>
                </a:solidFill>
              </a:rPr>
              <a:t>AdamW</a:t>
            </a:r>
            <a:r>
              <a:rPr lang="en">
                <a:solidFill>
                  <a:schemeClr val="dk1"/>
                </a:solidFill>
              </a:rPr>
              <a:t>, which helps with generalization by decoupling weight-decay from adaptive learning.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to make sure the model converges smoothly instead of plateauing early, we used a </a:t>
            </a:r>
            <a:r>
              <a:rPr b="1" lang="en">
                <a:solidFill>
                  <a:schemeClr val="dk1"/>
                </a:solidFill>
              </a:rPr>
              <a:t>cosine annealing learning-rate schedule</a:t>
            </a:r>
            <a:r>
              <a:rPr lang="en">
                <a:solidFill>
                  <a:schemeClr val="dk1"/>
                </a:solidFill>
              </a:rPr>
              <a:t>, which gradually lowers the learning rate over time.</a:t>
            </a:r>
            <a:endParaRPr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Finally, we tracked checkpoints throughout training and always restored the </a:t>
            </a:r>
            <a:r>
              <a:rPr b="1" lang="en">
                <a:solidFill>
                  <a:schemeClr val="dk1"/>
                </a:solidFill>
              </a:rPr>
              <a:t>best-performing weights</a:t>
            </a:r>
            <a:r>
              <a:rPr lang="en">
                <a:solidFill>
                  <a:schemeClr val="dk1"/>
                </a:solidFill>
              </a:rPr>
              <a:t>, ensuring we carry the strongest classifier forward into the pricing stage.”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e5bdc505e_3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ae5bdc505e_3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“The model learned fashion categories extremely quickly.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In </a:t>
            </a:r>
            <a:r>
              <a:rPr b="1" lang="en">
                <a:solidFill>
                  <a:schemeClr val="dk1"/>
                </a:solidFill>
              </a:rPr>
              <a:t>just three epochs</a:t>
            </a:r>
            <a:r>
              <a:rPr lang="en">
                <a:solidFill>
                  <a:schemeClr val="dk1"/>
                </a:solidFill>
              </a:rPr>
              <a:t>, it already surpassed </a:t>
            </a:r>
            <a:r>
              <a:rPr b="1" lang="en">
                <a:solidFill>
                  <a:schemeClr val="dk1"/>
                </a:solidFill>
              </a:rPr>
              <a:t>90% accuracy</a:t>
            </a:r>
            <a:r>
              <a:rPr lang="en">
                <a:solidFill>
                  <a:schemeClr val="dk1"/>
                </a:solidFill>
              </a:rPr>
              <a:t>, showing that the ImageNet-pretrained layers were effective at identifying clothing features.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By convergence, we achieved </a:t>
            </a:r>
            <a:r>
              <a:rPr b="1" lang="en">
                <a:solidFill>
                  <a:schemeClr val="dk1"/>
                </a:solidFill>
              </a:rPr>
              <a:t>95.43% test accuracy</a:t>
            </a:r>
            <a:r>
              <a:rPr lang="en">
                <a:solidFill>
                  <a:schemeClr val="dk1"/>
                </a:solidFill>
              </a:rPr>
              <a:t>, which means the model is highly reliable for visual understanding and categorization.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confusion matrix on the right shows strong diagonal dominance — meaning almost every item is classified correctly — with very few mix-ups between visually similar categories like pullover vs coat or shirt vs t-shirt.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importantly, the training and validation loss curves track closely, which confirms that the model </a:t>
            </a:r>
            <a:r>
              <a:rPr b="1" lang="en">
                <a:solidFill>
                  <a:schemeClr val="dk1"/>
                </a:solidFill>
              </a:rPr>
              <a:t>generalizes</a:t>
            </a:r>
            <a:r>
              <a:rPr lang="en">
                <a:solidFill>
                  <a:schemeClr val="dk1"/>
                </a:solidFill>
              </a:rPr>
              <a:t> rather than memorizes.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With accuracy this high, we were confident the classifier could serve as a strong </a:t>
            </a:r>
            <a:r>
              <a:rPr b="1" lang="en">
                <a:solidFill>
                  <a:schemeClr val="dk1"/>
                </a:solidFill>
              </a:rPr>
              <a:t>feature-extractor</a:t>
            </a:r>
            <a:r>
              <a:rPr lang="en">
                <a:solidFill>
                  <a:schemeClr val="dk1"/>
                </a:solidFill>
              </a:rPr>
              <a:t> for our price estimation stage.”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e5bdc505e_3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ae5bdc505e_3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e5bdc505e_3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ae5bdc505e_3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e5bdc505e_3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ae5bdc505e_3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e5bdc505e_3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ae5bdc505e_3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998"/>
              </a:buClr>
              <a:buSzPts val="1800"/>
              <a:buNone/>
              <a:defRPr sz="1800">
                <a:solidFill>
                  <a:srgbClr val="88899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8"/>
              </a:buClr>
              <a:buSzPts val="1500"/>
              <a:buNone/>
              <a:defRPr sz="1500">
                <a:solidFill>
                  <a:srgbClr val="88899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8"/>
              </a:buClr>
              <a:buSzPts val="1400"/>
              <a:buNone/>
              <a:defRPr sz="1400">
                <a:solidFill>
                  <a:srgbClr val="88899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8"/>
              </a:buClr>
              <a:buSzPts val="1200"/>
              <a:buNone/>
              <a:defRPr sz="1200">
                <a:solidFill>
                  <a:srgbClr val="88899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8"/>
              </a:buClr>
              <a:buSzPts val="1200"/>
              <a:buNone/>
              <a:defRPr sz="1200">
                <a:solidFill>
                  <a:srgbClr val="88899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8"/>
              </a:buClr>
              <a:buSzPts val="1200"/>
              <a:buNone/>
              <a:defRPr sz="1200">
                <a:solidFill>
                  <a:srgbClr val="88899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8"/>
              </a:buClr>
              <a:buSzPts val="1200"/>
              <a:buNone/>
              <a:defRPr sz="1200">
                <a:solidFill>
                  <a:srgbClr val="88899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8"/>
              </a:buClr>
              <a:buSzPts val="1200"/>
              <a:buNone/>
              <a:defRPr sz="1200">
                <a:solidFill>
                  <a:srgbClr val="88899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8"/>
              </a:buClr>
              <a:buSzPts val="1200"/>
              <a:buNone/>
              <a:defRPr sz="1200">
                <a:solidFill>
                  <a:srgbClr val="88899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BLANK_1">
    <p:bg>
      <p:bgPr>
        <a:solidFill>
          <a:schemeClr val="accent5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/>
          <p:nvPr/>
        </p:nvSpPr>
        <p:spPr>
          <a:xfrm>
            <a:off x="6849412" y="229900"/>
            <a:ext cx="2068500" cy="2068500"/>
          </a:xfrm>
          <a:prstGeom prst="roundRect">
            <a:avLst>
              <a:gd fmla="val 1221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228600" y="229900"/>
            <a:ext cx="4349400" cy="4683600"/>
          </a:xfrm>
          <a:prstGeom prst="roundRect">
            <a:avLst>
              <a:gd fmla="val 584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4679587" y="229900"/>
            <a:ext cx="2068500" cy="2068500"/>
          </a:xfrm>
          <a:prstGeom prst="roundRect">
            <a:avLst>
              <a:gd fmla="val 122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4679599" y="2404695"/>
            <a:ext cx="4238400" cy="2508900"/>
          </a:xfrm>
          <a:prstGeom prst="roundRect">
            <a:avLst>
              <a:gd fmla="val 101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5" name="Google Shape;85;p13"/>
          <p:cNvGrpSpPr/>
          <p:nvPr/>
        </p:nvGrpSpPr>
        <p:grpSpPr>
          <a:xfrm>
            <a:off x="4524845" y="724771"/>
            <a:ext cx="2377504" cy="1078596"/>
            <a:chOff x="4571989" y="769200"/>
            <a:chExt cx="2320422" cy="1052700"/>
          </a:xfrm>
        </p:grpSpPr>
        <p:sp>
          <p:nvSpPr>
            <p:cNvPr id="86" name="Google Shape;86;p13"/>
            <p:cNvSpPr/>
            <p:nvPr/>
          </p:nvSpPr>
          <p:spPr>
            <a:xfrm>
              <a:off x="5691810" y="769200"/>
              <a:ext cx="1200600" cy="10527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87" name="Google Shape;87;p13"/>
            <p:cNvSpPr/>
            <p:nvPr/>
          </p:nvSpPr>
          <p:spPr>
            <a:xfrm flipH="1">
              <a:off x="4571989" y="769200"/>
              <a:ext cx="1200600" cy="10527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88" name="Google Shape;88;p13"/>
          <p:cNvGrpSpPr/>
          <p:nvPr/>
        </p:nvGrpSpPr>
        <p:grpSpPr>
          <a:xfrm>
            <a:off x="7352898" y="762044"/>
            <a:ext cx="1061865" cy="1004215"/>
            <a:chOff x="7312075" y="834700"/>
            <a:chExt cx="1022400" cy="966799"/>
          </a:xfrm>
        </p:grpSpPr>
        <p:sp>
          <p:nvSpPr>
            <p:cNvPr id="89" name="Google Shape;89;p13"/>
            <p:cNvSpPr/>
            <p:nvPr/>
          </p:nvSpPr>
          <p:spPr>
            <a:xfrm>
              <a:off x="7312075" y="834700"/>
              <a:ext cx="1022400" cy="438000"/>
            </a:xfrm>
            <a:prstGeom prst="roundRect">
              <a:avLst>
                <a:gd fmla="val 50000" name="adj"/>
              </a:avLst>
            </a:prstGeom>
            <a:noFill/>
            <a:ln cap="flat" cmpd="sng" w="1143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7312075" y="1363499"/>
              <a:ext cx="1022400" cy="438000"/>
            </a:xfrm>
            <a:prstGeom prst="roundRect">
              <a:avLst>
                <a:gd fmla="val 50000" name="adj"/>
              </a:avLst>
            </a:prstGeom>
            <a:noFill/>
            <a:ln cap="flat" cmpd="sng" w="1143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1" name="Google Shape;91;p13"/>
          <p:cNvSpPr txBox="1"/>
          <p:nvPr>
            <p:ph idx="1" type="subTitle"/>
          </p:nvPr>
        </p:nvSpPr>
        <p:spPr>
          <a:xfrm>
            <a:off x="4897375" y="2609925"/>
            <a:ext cx="3679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2" name="Google Shape;92;p13"/>
          <p:cNvSpPr txBox="1"/>
          <p:nvPr>
            <p:ph type="title"/>
          </p:nvPr>
        </p:nvSpPr>
        <p:spPr>
          <a:xfrm>
            <a:off x="563400" y="3695700"/>
            <a:ext cx="3679800" cy="9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image">
  <p:cSld name="BLANK_1_1_1_1_1_1_1_1_1_1_1_1_1_1_1_1_1_1_1_1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>
            <p:ph idx="2" type="pic"/>
          </p:nvPr>
        </p:nvSpPr>
        <p:spPr>
          <a:xfrm>
            <a:off x="228650" y="2813125"/>
            <a:ext cx="8018700" cy="2099100"/>
          </a:xfrm>
          <a:prstGeom prst="roundRect">
            <a:avLst>
              <a:gd fmla="val 7988" name="adj"/>
            </a:avLst>
          </a:prstGeom>
          <a:noFill/>
          <a:ln>
            <a:noFill/>
          </a:ln>
        </p:spPr>
      </p:sp>
      <p:sp>
        <p:nvSpPr>
          <p:cNvPr id="95" name="Google Shape;95;p14"/>
          <p:cNvSpPr txBox="1"/>
          <p:nvPr>
            <p:ph idx="1" type="subTitle"/>
          </p:nvPr>
        </p:nvSpPr>
        <p:spPr>
          <a:xfrm>
            <a:off x="228600" y="947332"/>
            <a:ext cx="64803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6" name="Google Shape;96;p14"/>
          <p:cNvSpPr txBox="1"/>
          <p:nvPr>
            <p:ph type="title"/>
          </p:nvPr>
        </p:nvSpPr>
        <p:spPr>
          <a:xfrm>
            <a:off x="228600" y="228600"/>
            <a:ext cx="6480300" cy="49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1">
  <p:cSld name="BLANK_1_1_1_1_1_1_1_1_1_1_1_1_1_1_1_1_1_1_1_1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>
            <p:ph idx="2" type="pic"/>
          </p:nvPr>
        </p:nvSpPr>
        <p:spPr>
          <a:xfrm>
            <a:off x="3547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99" name="Google Shape;99;p15"/>
          <p:cNvSpPr/>
          <p:nvPr>
            <p:ph idx="3" type="pic"/>
          </p:nvPr>
        </p:nvSpPr>
        <p:spPr>
          <a:xfrm>
            <a:off x="25552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100" name="Google Shape;100;p15"/>
          <p:cNvSpPr/>
          <p:nvPr>
            <p:ph idx="4" type="pic"/>
          </p:nvPr>
        </p:nvSpPr>
        <p:spPr>
          <a:xfrm>
            <a:off x="47557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101" name="Google Shape;101;p15"/>
          <p:cNvSpPr/>
          <p:nvPr>
            <p:ph idx="5" type="pic"/>
          </p:nvPr>
        </p:nvSpPr>
        <p:spPr>
          <a:xfrm>
            <a:off x="69562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3997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3" name="Google Shape;103;p15"/>
          <p:cNvSpPr txBox="1"/>
          <p:nvPr>
            <p:ph idx="6" type="subTitle"/>
          </p:nvPr>
        </p:nvSpPr>
        <p:spPr>
          <a:xfrm>
            <a:off x="3997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04" name="Google Shape;104;p15"/>
          <p:cNvSpPr txBox="1"/>
          <p:nvPr>
            <p:ph idx="7" type="body"/>
          </p:nvPr>
        </p:nvSpPr>
        <p:spPr>
          <a:xfrm>
            <a:off x="3997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5" name="Google Shape;105;p15"/>
          <p:cNvSpPr txBox="1"/>
          <p:nvPr>
            <p:ph idx="8" type="subTitle"/>
          </p:nvPr>
        </p:nvSpPr>
        <p:spPr>
          <a:xfrm>
            <a:off x="26002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6" name="Google Shape;106;p15"/>
          <p:cNvSpPr txBox="1"/>
          <p:nvPr>
            <p:ph idx="9" type="subTitle"/>
          </p:nvPr>
        </p:nvSpPr>
        <p:spPr>
          <a:xfrm>
            <a:off x="26002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07" name="Google Shape;107;p15"/>
          <p:cNvSpPr txBox="1"/>
          <p:nvPr>
            <p:ph idx="13" type="body"/>
          </p:nvPr>
        </p:nvSpPr>
        <p:spPr>
          <a:xfrm>
            <a:off x="26002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8" name="Google Shape;108;p15"/>
          <p:cNvSpPr txBox="1"/>
          <p:nvPr>
            <p:ph idx="14" type="subTitle"/>
          </p:nvPr>
        </p:nvSpPr>
        <p:spPr>
          <a:xfrm>
            <a:off x="48007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15" type="subTitle"/>
          </p:nvPr>
        </p:nvSpPr>
        <p:spPr>
          <a:xfrm>
            <a:off x="48007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10" name="Google Shape;110;p15"/>
          <p:cNvSpPr txBox="1"/>
          <p:nvPr>
            <p:ph idx="16" type="body"/>
          </p:nvPr>
        </p:nvSpPr>
        <p:spPr>
          <a:xfrm>
            <a:off x="48007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7" type="subTitle"/>
          </p:nvPr>
        </p:nvSpPr>
        <p:spPr>
          <a:xfrm>
            <a:off x="70012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18" type="subTitle"/>
          </p:nvPr>
        </p:nvSpPr>
        <p:spPr>
          <a:xfrm>
            <a:off x="70012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13" name="Google Shape;113;p15"/>
          <p:cNvSpPr txBox="1"/>
          <p:nvPr>
            <p:ph idx="19" type="body"/>
          </p:nvPr>
        </p:nvSpPr>
        <p:spPr>
          <a:xfrm>
            <a:off x="70012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ersonas">
  <p:cSld name="BLANK_1_1_1_1_1_1_1_1_1_1_1_1_1_1_1_1_1_1_1_1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>
            <p:ph idx="2" type="pic"/>
          </p:nvPr>
        </p:nvSpPr>
        <p:spPr>
          <a:xfrm>
            <a:off x="228300" y="912725"/>
            <a:ext cx="1833000" cy="2294100"/>
          </a:xfrm>
          <a:prstGeom prst="roundRect">
            <a:avLst>
              <a:gd fmla="val 12454" name="adj"/>
            </a:avLst>
          </a:prstGeom>
          <a:noFill/>
          <a:ln>
            <a:noFill/>
          </a:ln>
        </p:spPr>
      </p:sp>
      <p:sp>
        <p:nvSpPr>
          <p:cNvPr id="116" name="Google Shape;116;p16"/>
          <p:cNvSpPr/>
          <p:nvPr>
            <p:ph idx="3" type="pic"/>
          </p:nvPr>
        </p:nvSpPr>
        <p:spPr>
          <a:xfrm>
            <a:off x="4781400" y="912725"/>
            <a:ext cx="1833000" cy="2294100"/>
          </a:xfrm>
          <a:prstGeom prst="roundRect">
            <a:avLst>
              <a:gd fmla="val 12454" name="adj"/>
            </a:avLst>
          </a:prstGeom>
          <a:noFill/>
          <a:ln>
            <a:noFill/>
          </a:ln>
        </p:spPr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2270700" y="968925"/>
            <a:ext cx="2091900" cy="28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8" name="Google Shape;118;p16"/>
          <p:cNvSpPr txBox="1"/>
          <p:nvPr>
            <p:ph idx="4" type="body"/>
          </p:nvPr>
        </p:nvSpPr>
        <p:spPr>
          <a:xfrm>
            <a:off x="6823800" y="968925"/>
            <a:ext cx="2091900" cy="28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9" name="Google Shape;119;p16"/>
          <p:cNvSpPr txBox="1"/>
          <p:nvPr>
            <p:ph idx="5" type="subTitle"/>
          </p:nvPr>
        </p:nvSpPr>
        <p:spPr>
          <a:xfrm>
            <a:off x="277650" y="3373825"/>
            <a:ext cx="17256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21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20" name="Google Shape;120;p16"/>
          <p:cNvSpPr txBox="1"/>
          <p:nvPr>
            <p:ph idx="6" type="subTitle"/>
          </p:nvPr>
        </p:nvSpPr>
        <p:spPr>
          <a:xfrm>
            <a:off x="4835100" y="3373825"/>
            <a:ext cx="17256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21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2">
  <p:cSld name="BLANK_1_1_1_1_1_1_1_1_1_1_1_1_1_1_1_1_1_1_1_1_1_1_2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353900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23" name="Google Shape;123;p17"/>
          <p:cNvSpPr txBox="1"/>
          <p:nvPr>
            <p:ph idx="2" type="subTitle"/>
          </p:nvPr>
        </p:nvSpPr>
        <p:spPr>
          <a:xfrm>
            <a:off x="353900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24" name="Google Shape;124;p17"/>
          <p:cNvSpPr/>
          <p:nvPr>
            <p:ph idx="3" type="pic"/>
          </p:nvPr>
        </p:nvSpPr>
        <p:spPr>
          <a:xfrm>
            <a:off x="321050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25" name="Google Shape;125;p17"/>
          <p:cNvSpPr txBox="1"/>
          <p:nvPr>
            <p:ph idx="4" type="subTitle"/>
          </p:nvPr>
        </p:nvSpPr>
        <p:spPr>
          <a:xfrm>
            <a:off x="2003288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26" name="Google Shape;126;p17"/>
          <p:cNvSpPr txBox="1"/>
          <p:nvPr>
            <p:ph idx="5" type="subTitle"/>
          </p:nvPr>
        </p:nvSpPr>
        <p:spPr>
          <a:xfrm>
            <a:off x="2003288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27" name="Google Shape;127;p17"/>
          <p:cNvSpPr/>
          <p:nvPr>
            <p:ph idx="6" type="pic"/>
          </p:nvPr>
        </p:nvSpPr>
        <p:spPr>
          <a:xfrm>
            <a:off x="1970438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28" name="Google Shape;128;p17"/>
          <p:cNvSpPr txBox="1"/>
          <p:nvPr>
            <p:ph idx="7" type="subTitle"/>
          </p:nvPr>
        </p:nvSpPr>
        <p:spPr>
          <a:xfrm>
            <a:off x="3652675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29" name="Google Shape;129;p17"/>
          <p:cNvSpPr txBox="1"/>
          <p:nvPr>
            <p:ph idx="8" type="subTitle"/>
          </p:nvPr>
        </p:nvSpPr>
        <p:spPr>
          <a:xfrm>
            <a:off x="3652675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30" name="Google Shape;130;p17"/>
          <p:cNvSpPr/>
          <p:nvPr>
            <p:ph idx="9" type="pic"/>
          </p:nvPr>
        </p:nvSpPr>
        <p:spPr>
          <a:xfrm>
            <a:off x="3619825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31" name="Google Shape;131;p17"/>
          <p:cNvSpPr txBox="1"/>
          <p:nvPr>
            <p:ph idx="13" type="subTitle"/>
          </p:nvPr>
        </p:nvSpPr>
        <p:spPr>
          <a:xfrm>
            <a:off x="5302050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2" name="Google Shape;132;p17"/>
          <p:cNvSpPr txBox="1"/>
          <p:nvPr>
            <p:ph idx="14" type="subTitle"/>
          </p:nvPr>
        </p:nvSpPr>
        <p:spPr>
          <a:xfrm>
            <a:off x="5302050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33" name="Google Shape;133;p17"/>
          <p:cNvSpPr/>
          <p:nvPr>
            <p:ph idx="15" type="pic"/>
          </p:nvPr>
        </p:nvSpPr>
        <p:spPr>
          <a:xfrm>
            <a:off x="5269200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34" name="Google Shape;134;p17"/>
          <p:cNvSpPr txBox="1"/>
          <p:nvPr>
            <p:ph idx="16" type="subTitle"/>
          </p:nvPr>
        </p:nvSpPr>
        <p:spPr>
          <a:xfrm>
            <a:off x="2003300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5" name="Google Shape;135;p17"/>
          <p:cNvSpPr txBox="1"/>
          <p:nvPr>
            <p:ph idx="17" type="subTitle"/>
          </p:nvPr>
        </p:nvSpPr>
        <p:spPr>
          <a:xfrm>
            <a:off x="2003300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36" name="Google Shape;136;p17"/>
          <p:cNvSpPr/>
          <p:nvPr>
            <p:ph idx="18" type="pic"/>
          </p:nvPr>
        </p:nvSpPr>
        <p:spPr>
          <a:xfrm>
            <a:off x="1970450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37" name="Google Shape;137;p17"/>
          <p:cNvSpPr txBox="1"/>
          <p:nvPr>
            <p:ph idx="19" type="subTitle"/>
          </p:nvPr>
        </p:nvSpPr>
        <p:spPr>
          <a:xfrm>
            <a:off x="3652688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20" type="subTitle"/>
          </p:nvPr>
        </p:nvSpPr>
        <p:spPr>
          <a:xfrm>
            <a:off x="3652688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39" name="Google Shape;139;p17"/>
          <p:cNvSpPr/>
          <p:nvPr>
            <p:ph idx="21" type="pic"/>
          </p:nvPr>
        </p:nvSpPr>
        <p:spPr>
          <a:xfrm>
            <a:off x="3619838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40" name="Google Shape;140;p17"/>
          <p:cNvSpPr txBox="1"/>
          <p:nvPr>
            <p:ph idx="22" type="subTitle"/>
          </p:nvPr>
        </p:nvSpPr>
        <p:spPr>
          <a:xfrm>
            <a:off x="5302075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3" type="subTitle"/>
          </p:nvPr>
        </p:nvSpPr>
        <p:spPr>
          <a:xfrm>
            <a:off x="5302075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42" name="Google Shape;142;p17"/>
          <p:cNvSpPr/>
          <p:nvPr>
            <p:ph idx="24" type="pic"/>
          </p:nvPr>
        </p:nvSpPr>
        <p:spPr>
          <a:xfrm>
            <a:off x="5269225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43" name="Google Shape;143;p17"/>
          <p:cNvSpPr txBox="1"/>
          <p:nvPr>
            <p:ph idx="25" type="subTitle"/>
          </p:nvPr>
        </p:nvSpPr>
        <p:spPr>
          <a:xfrm>
            <a:off x="6951450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26" type="subTitle"/>
          </p:nvPr>
        </p:nvSpPr>
        <p:spPr>
          <a:xfrm>
            <a:off x="6951450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45" name="Google Shape;145;p17"/>
          <p:cNvSpPr/>
          <p:nvPr>
            <p:ph idx="27" type="pic"/>
          </p:nvPr>
        </p:nvSpPr>
        <p:spPr>
          <a:xfrm>
            <a:off x="6918600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oups">
  <p:cSld name="BLANK_1_1_1_1_1_1_1_1_1_1_1_1_1_1_1_1_1_1_1_1_1_1_1_2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>
            <p:ph type="title"/>
          </p:nvPr>
        </p:nvSpPr>
        <p:spPr>
          <a:xfrm>
            <a:off x="228600" y="741875"/>
            <a:ext cx="6480300" cy="41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48" name="Google Shape;148;p18"/>
          <p:cNvSpPr txBox="1"/>
          <p:nvPr>
            <p:ph idx="1" type="body"/>
          </p:nvPr>
        </p:nvSpPr>
        <p:spPr>
          <a:xfrm>
            <a:off x="228625" y="4191000"/>
            <a:ext cx="1113600" cy="713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9" name="Google Shape;149;p18"/>
          <p:cNvSpPr/>
          <p:nvPr>
            <p:ph idx="2" type="pic"/>
          </p:nvPr>
        </p:nvSpPr>
        <p:spPr>
          <a:xfrm>
            <a:off x="228575" y="157125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0" name="Google Shape;150;p18"/>
          <p:cNvSpPr/>
          <p:nvPr>
            <p:ph idx="3" type="pic"/>
          </p:nvPr>
        </p:nvSpPr>
        <p:spPr>
          <a:xfrm>
            <a:off x="824775" y="157125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8"/>
          <p:cNvSpPr/>
          <p:nvPr>
            <p:ph idx="4" type="pic"/>
          </p:nvPr>
        </p:nvSpPr>
        <p:spPr>
          <a:xfrm>
            <a:off x="228550" y="216532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2" name="Google Shape;152;p18"/>
          <p:cNvSpPr/>
          <p:nvPr>
            <p:ph idx="5" type="pic"/>
          </p:nvPr>
        </p:nvSpPr>
        <p:spPr>
          <a:xfrm>
            <a:off x="824750" y="216532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3" name="Google Shape;153;p18"/>
          <p:cNvSpPr/>
          <p:nvPr>
            <p:ph idx="6" type="pic"/>
          </p:nvPr>
        </p:nvSpPr>
        <p:spPr>
          <a:xfrm>
            <a:off x="228588" y="275940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4" name="Google Shape;154;p18"/>
          <p:cNvSpPr/>
          <p:nvPr>
            <p:ph idx="7" type="pic"/>
          </p:nvPr>
        </p:nvSpPr>
        <p:spPr>
          <a:xfrm>
            <a:off x="824788" y="275940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5" name="Google Shape;155;p18"/>
          <p:cNvSpPr/>
          <p:nvPr>
            <p:ph idx="8" type="pic"/>
          </p:nvPr>
        </p:nvSpPr>
        <p:spPr>
          <a:xfrm>
            <a:off x="228563" y="335347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6" name="Google Shape;156;p18"/>
          <p:cNvSpPr/>
          <p:nvPr>
            <p:ph idx="9" type="pic"/>
          </p:nvPr>
        </p:nvSpPr>
        <p:spPr>
          <a:xfrm>
            <a:off x="824763" y="3353475"/>
            <a:ext cx="517500" cy="517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1">
  <p:cSld name="BLANK_1_1_1_1_1_1_1_1_1_1_1_1_1_1_1_1_1_1_1_1_1_1_1_1">
    <p:bg>
      <p:bgPr>
        <a:solidFill>
          <a:schemeClr val="accent4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2">
  <p:cSld name="BLANK_1_1_1_1_1_1_1_1_1_1_1_1_1_1_1_1_1_1_1_1_1_1_1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61" name="Google Shape;161;p20"/>
          <p:cNvSpPr txBox="1"/>
          <p:nvPr>
            <p:ph idx="1" type="subTitle"/>
          </p:nvPr>
        </p:nvSpPr>
        <p:spPr>
          <a:xfrm>
            <a:off x="228600" y="952675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3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/>
          <p:nvPr>
            <p:ph type="title"/>
          </p:nvPr>
        </p:nvSpPr>
        <p:spPr>
          <a:xfrm>
            <a:off x="228600" y="228600"/>
            <a:ext cx="6480300" cy="49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64" name="Google Shape;164;p21"/>
          <p:cNvSpPr txBox="1"/>
          <p:nvPr>
            <p:ph idx="1" type="body"/>
          </p:nvPr>
        </p:nvSpPr>
        <p:spPr>
          <a:xfrm>
            <a:off x="3186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5" name="Google Shape;165;p21"/>
          <p:cNvSpPr txBox="1"/>
          <p:nvPr>
            <p:ph idx="2" type="body"/>
          </p:nvPr>
        </p:nvSpPr>
        <p:spPr>
          <a:xfrm>
            <a:off x="69111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6" name="Google Shape;166;p21"/>
          <p:cNvSpPr txBox="1"/>
          <p:nvPr>
            <p:ph idx="3" type="body"/>
          </p:nvPr>
        </p:nvSpPr>
        <p:spPr>
          <a:xfrm>
            <a:off x="25161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7" name="Google Shape;167;p21"/>
          <p:cNvSpPr txBox="1"/>
          <p:nvPr>
            <p:ph idx="4" type="body"/>
          </p:nvPr>
        </p:nvSpPr>
        <p:spPr>
          <a:xfrm>
            <a:off x="4713588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8" name="Google Shape;168;p21"/>
          <p:cNvSpPr txBox="1"/>
          <p:nvPr>
            <p:ph idx="5" type="subTitle"/>
          </p:nvPr>
        </p:nvSpPr>
        <p:spPr>
          <a:xfrm>
            <a:off x="381950" y="2393500"/>
            <a:ext cx="18549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2100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69" name="Google Shape;169;p21"/>
          <p:cNvSpPr txBox="1"/>
          <p:nvPr>
            <p:ph idx="6" type="subTitle"/>
          </p:nvPr>
        </p:nvSpPr>
        <p:spPr>
          <a:xfrm>
            <a:off x="2574000" y="2378475"/>
            <a:ext cx="18549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2100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70" name="Google Shape;170;p21"/>
          <p:cNvSpPr txBox="1"/>
          <p:nvPr>
            <p:ph idx="7" type="subTitle"/>
          </p:nvPr>
        </p:nvSpPr>
        <p:spPr>
          <a:xfrm>
            <a:off x="4806538" y="2378475"/>
            <a:ext cx="18228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2100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71" name="Google Shape;171;p21"/>
          <p:cNvSpPr txBox="1"/>
          <p:nvPr>
            <p:ph idx="8" type="subTitle"/>
          </p:nvPr>
        </p:nvSpPr>
        <p:spPr>
          <a:xfrm>
            <a:off x="7007100" y="2378475"/>
            <a:ext cx="18228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2100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3">
  <p:cSld name="BLANK_1_1_1_1_1_1_1_1_1_1_1_1_1_1_1_1_1_1_1_1_1_1_1_1_1_1">
    <p:bg>
      <p:bgPr>
        <a:solidFill>
          <a:schemeClr val="accent5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74" name="Google Shape;174;p22"/>
          <p:cNvSpPr txBox="1"/>
          <p:nvPr>
            <p:ph idx="1" type="subTitle"/>
          </p:nvPr>
        </p:nvSpPr>
        <p:spPr>
          <a:xfrm>
            <a:off x="228600" y="952675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">
  <p:cSld name="BLANK_1_2">
    <p:bg>
      <p:bgPr>
        <a:solidFill>
          <a:schemeClr val="accent5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/>
          <p:nvPr/>
        </p:nvSpPr>
        <p:spPr>
          <a:xfrm rot="5400000">
            <a:off x="-285900" y="285900"/>
            <a:ext cx="5143500" cy="4571700"/>
          </a:xfrm>
          <a:prstGeom prst="round2SameRect">
            <a:avLst>
              <a:gd fmla="val 7676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" name="Google Shape;177;p23"/>
          <p:cNvSpPr txBox="1"/>
          <p:nvPr>
            <p:ph type="title"/>
          </p:nvPr>
        </p:nvSpPr>
        <p:spPr>
          <a:xfrm>
            <a:off x="228600" y="228600"/>
            <a:ext cx="3713100" cy="1108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 1">
  <p:cSld name="BLANK_1_1_1_1_1_1_1_1_1_1_3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/>
          <p:nvPr/>
        </p:nvSpPr>
        <p:spPr>
          <a:xfrm>
            <a:off x="228600" y="632050"/>
            <a:ext cx="8686800" cy="3539400"/>
          </a:xfrm>
          <a:prstGeom prst="roundRect">
            <a:avLst>
              <a:gd fmla="val 5122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0" y="4400100"/>
            <a:ext cx="9144000" cy="74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1" name="Google Shape;181;p24"/>
          <p:cNvSpPr txBox="1"/>
          <p:nvPr>
            <p:ph idx="1" type="subTitle"/>
          </p:nvPr>
        </p:nvSpPr>
        <p:spPr>
          <a:xfrm>
            <a:off x="228600" y="4619400"/>
            <a:ext cx="1231800" cy="3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2" name="Google Shape;182;p24"/>
          <p:cNvSpPr txBox="1"/>
          <p:nvPr>
            <p:ph idx="2" type="body"/>
          </p:nvPr>
        </p:nvSpPr>
        <p:spPr>
          <a:xfrm>
            <a:off x="378975" y="788021"/>
            <a:ext cx="3990900" cy="3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3" name="Google Shape;183;p24"/>
          <p:cNvSpPr txBox="1"/>
          <p:nvPr>
            <p:ph idx="3" type="body"/>
          </p:nvPr>
        </p:nvSpPr>
        <p:spPr>
          <a:xfrm>
            <a:off x="4774123" y="788021"/>
            <a:ext cx="3990900" cy="3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 2">
  <p:cSld name="BLANK_1_1_1_1_1_1_1_1_1_1_3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/>
          <p:nvPr/>
        </p:nvSpPr>
        <p:spPr>
          <a:xfrm>
            <a:off x="0" y="4400100"/>
            <a:ext cx="9144000" cy="74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6" name="Google Shape;186;p25"/>
          <p:cNvSpPr txBox="1"/>
          <p:nvPr>
            <p:ph idx="1" type="subTitle"/>
          </p:nvPr>
        </p:nvSpPr>
        <p:spPr>
          <a:xfrm>
            <a:off x="228600" y="4619400"/>
            <a:ext cx="1231800" cy="3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_1_1_1_2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>
            <p:ph type="title"/>
          </p:nvPr>
        </p:nvSpPr>
        <p:spPr>
          <a:xfrm>
            <a:off x="228600" y="741875"/>
            <a:ext cx="6480300" cy="41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idea">
  <p:cSld name="BLANK_1_1_1_1_1_1_1_1_1_1_1_1_1_2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/>
          <p:nvPr/>
        </p:nvSpPr>
        <p:spPr>
          <a:xfrm>
            <a:off x="0" y="3149700"/>
            <a:ext cx="5322300" cy="1993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1" name="Google Shape;191;p27"/>
          <p:cNvSpPr txBox="1"/>
          <p:nvPr>
            <p:ph type="title"/>
          </p:nvPr>
        </p:nvSpPr>
        <p:spPr>
          <a:xfrm>
            <a:off x="228600" y="191575"/>
            <a:ext cx="42858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92" name="Google Shape;192;p27"/>
          <p:cNvSpPr txBox="1"/>
          <p:nvPr>
            <p:ph idx="1" type="body"/>
          </p:nvPr>
        </p:nvSpPr>
        <p:spPr>
          <a:xfrm>
            <a:off x="228600" y="1317900"/>
            <a:ext cx="4285800" cy="9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3" name="Google Shape;193;p27"/>
          <p:cNvSpPr txBox="1"/>
          <p:nvPr>
            <p:ph idx="2" type="subTitle"/>
          </p:nvPr>
        </p:nvSpPr>
        <p:spPr>
          <a:xfrm>
            <a:off x="228600" y="3402700"/>
            <a:ext cx="19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idx="3" type="body"/>
          </p:nvPr>
        </p:nvSpPr>
        <p:spPr>
          <a:xfrm>
            <a:off x="228600" y="3692075"/>
            <a:ext cx="19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5" name="Google Shape;195;p27"/>
          <p:cNvSpPr txBox="1"/>
          <p:nvPr>
            <p:ph idx="4" type="subTitle"/>
          </p:nvPr>
        </p:nvSpPr>
        <p:spPr>
          <a:xfrm>
            <a:off x="2557500" y="3402700"/>
            <a:ext cx="19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96" name="Google Shape;196;p27"/>
          <p:cNvSpPr txBox="1"/>
          <p:nvPr>
            <p:ph idx="5" type="body"/>
          </p:nvPr>
        </p:nvSpPr>
        <p:spPr>
          <a:xfrm>
            <a:off x="2557500" y="3692075"/>
            <a:ext cx="19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7" name="Google Shape;197;p27"/>
          <p:cNvSpPr/>
          <p:nvPr>
            <p:ph idx="6" type="pic"/>
          </p:nvPr>
        </p:nvSpPr>
        <p:spPr>
          <a:xfrm rot="-5400000">
            <a:off x="4491900" y="497850"/>
            <a:ext cx="5156400" cy="4147800"/>
          </a:xfrm>
          <a:prstGeom prst="round2SameRect">
            <a:avLst>
              <a:gd fmla="val 8254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deas">
  <p:cSld name="BLANK_1_1_1_1_1_1_1_1_1_1_1_1_1_2_2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title"/>
          </p:nvPr>
        </p:nvSpPr>
        <p:spPr>
          <a:xfrm>
            <a:off x="228300" y="921925"/>
            <a:ext cx="32367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00" name="Google Shape;200;p28"/>
          <p:cNvSpPr txBox="1"/>
          <p:nvPr>
            <p:ph idx="2" type="title"/>
          </p:nvPr>
        </p:nvSpPr>
        <p:spPr>
          <a:xfrm>
            <a:off x="4788000" y="917325"/>
            <a:ext cx="32367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01" name="Google Shape;201;p28"/>
          <p:cNvSpPr txBox="1"/>
          <p:nvPr>
            <p:ph idx="1" type="body"/>
          </p:nvPr>
        </p:nvSpPr>
        <p:spPr>
          <a:xfrm>
            <a:off x="228600" y="1345400"/>
            <a:ext cx="4134300" cy="11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2" name="Google Shape;202;p28"/>
          <p:cNvSpPr txBox="1"/>
          <p:nvPr>
            <p:ph idx="3" type="body"/>
          </p:nvPr>
        </p:nvSpPr>
        <p:spPr>
          <a:xfrm>
            <a:off x="4781100" y="1345400"/>
            <a:ext cx="4134300" cy="11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4" type="subTitle"/>
          </p:nvPr>
        </p:nvSpPr>
        <p:spPr>
          <a:xfrm>
            <a:off x="5058000" y="3305850"/>
            <a:ext cx="16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04" name="Google Shape;204;p28"/>
          <p:cNvSpPr txBox="1"/>
          <p:nvPr>
            <p:ph idx="5" type="body"/>
          </p:nvPr>
        </p:nvSpPr>
        <p:spPr>
          <a:xfrm>
            <a:off x="5058000" y="3595225"/>
            <a:ext cx="16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subTitle"/>
          </p:nvPr>
        </p:nvSpPr>
        <p:spPr>
          <a:xfrm>
            <a:off x="2438171" y="3305838"/>
            <a:ext cx="16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7" type="body"/>
          </p:nvPr>
        </p:nvSpPr>
        <p:spPr>
          <a:xfrm>
            <a:off x="2438171" y="3595213"/>
            <a:ext cx="16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•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7" name="Google Shape;207;p28"/>
          <p:cNvSpPr/>
          <p:nvPr>
            <p:ph idx="8" type="pic"/>
          </p:nvPr>
        </p:nvSpPr>
        <p:spPr>
          <a:xfrm>
            <a:off x="0" y="3029625"/>
            <a:ext cx="2178300" cy="1895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8"/>
          <p:cNvSpPr/>
          <p:nvPr>
            <p:ph idx="9" type="pic"/>
          </p:nvPr>
        </p:nvSpPr>
        <p:spPr>
          <a:xfrm>
            <a:off x="6965700" y="3010075"/>
            <a:ext cx="2178300" cy="189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odboard 1">
  <p:cSld name="BLANK_1_1_1_1_1_1_1_1_1_1_1_1_1_1_1_1_1_1_1_1_1_1_1_1_1_2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/>
          <p:nvPr>
            <p:ph idx="2" type="pic"/>
          </p:nvPr>
        </p:nvSpPr>
        <p:spPr>
          <a:xfrm>
            <a:off x="4577975" y="632250"/>
            <a:ext cx="4349400" cy="4281600"/>
          </a:xfrm>
          <a:prstGeom prst="roundRect">
            <a:avLst>
              <a:gd fmla="val 6217" name="adj"/>
            </a:avLst>
          </a:prstGeom>
          <a:noFill/>
          <a:ln>
            <a:noFill/>
          </a:ln>
        </p:spPr>
      </p:sp>
      <p:sp>
        <p:nvSpPr>
          <p:cNvPr id="211" name="Google Shape;211;p29"/>
          <p:cNvSpPr/>
          <p:nvPr>
            <p:ph idx="3" type="pic"/>
          </p:nvPr>
        </p:nvSpPr>
        <p:spPr>
          <a:xfrm>
            <a:off x="228775" y="2621175"/>
            <a:ext cx="4238400" cy="2293500"/>
          </a:xfrm>
          <a:prstGeom prst="roundRect">
            <a:avLst>
              <a:gd fmla="val 9802" name="adj"/>
            </a:avLst>
          </a:prstGeom>
          <a:noFill/>
          <a:ln>
            <a:noFill/>
          </a:ln>
        </p:spPr>
      </p:sp>
      <p:sp>
        <p:nvSpPr>
          <p:cNvPr id="212" name="Google Shape;212;p29"/>
          <p:cNvSpPr/>
          <p:nvPr>
            <p:ph idx="4" type="pic"/>
          </p:nvPr>
        </p:nvSpPr>
        <p:spPr>
          <a:xfrm>
            <a:off x="228775" y="632025"/>
            <a:ext cx="2068500" cy="1890900"/>
          </a:xfrm>
          <a:prstGeom prst="roundRect">
            <a:avLst>
              <a:gd fmla="val 11889" name="adj"/>
            </a:avLst>
          </a:prstGeom>
          <a:noFill/>
          <a:ln>
            <a:noFill/>
          </a:ln>
        </p:spPr>
      </p:sp>
      <p:sp>
        <p:nvSpPr>
          <p:cNvPr id="213" name="Google Shape;213;p29"/>
          <p:cNvSpPr/>
          <p:nvPr>
            <p:ph idx="5" type="pic"/>
          </p:nvPr>
        </p:nvSpPr>
        <p:spPr>
          <a:xfrm>
            <a:off x="2403375" y="632025"/>
            <a:ext cx="2068500" cy="1890900"/>
          </a:xfrm>
          <a:prstGeom prst="roundRect">
            <a:avLst>
              <a:gd fmla="val 1188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odboard 2">
  <p:cSld name="BLANK_1_1_1_1_1_1_1_1_1_1_1_1_1_1_1_1_1_1_1_1_1_1_1_1_1_2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/>
          <p:nvPr>
            <p:ph idx="2" type="pic"/>
          </p:nvPr>
        </p:nvSpPr>
        <p:spPr>
          <a:xfrm>
            <a:off x="228625" y="6320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16" name="Google Shape;216;p30"/>
          <p:cNvSpPr txBox="1"/>
          <p:nvPr>
            <p:ph idx="1" type="subTitle"/>
          </p:nvPr>
        </p:nvSpPr>
        <p:spPr>
          <a:xfrm>
            <a:off x="401700" y="35680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17" name="Google Shape;217;p30"/>
          <p:cNvSpPr/>
          <p:nvPr>
            <p:ph idx="3" type="pic"/>
          </p:nvPr>
        </p:nvSpPr>
        <p:spPr>
          <a:xfrm>
            <a:off x="2429113" y="6319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18" name="Google Shape;218;p30"/>
          <p:cNvSpPr txBox="1"/>
          <p:nvPr>
            <p:ph idx="4" type="subTitle"/>
          </p:nvPr>
        </p:nvSpPr>
        <p:spPr>
          <a:xfrm>
            <a:off x="2602188" y="35679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19" name="Google Shape;219;p30"/>
          <p:cNvSpPr/>
          <p:nvPr>
            <p:ph idx="5" type="pic"/>
          </p:nvPr>
        </p:nvSpPr>
        <p:spPr>
          <a:xfrm>
            <a:off x="4629600" y="6319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20" name="Google Shape;220;p30"/>
          <p:cNvSpPr txBox="1"/>
          <p:nvPr>
            <p:ph idx="6" type="subTitle"/>
          </p:nvPr>
        </p:nvSpPr>
        <p:spPr>
          <a:xfrm>
            <a:off x="4802675" y="35679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21" name="Google Shape;221;p30"/>
          <p:cNvSpPr/>
          <p:nvPr>
            <p:ph idx="7" type="pic"/>
          </p:nvPr>
        </p:nvSpPr>
        <p:spPr>
          <a:xfrm>
            <a:off x="6830075" y="6320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22" name="Google Shape;222;p30"/>
          <p:cNvSpPr txBox="1"/>
          <p:nvPr>
            <p:ph idx="8" type="subTitle"/>
          </p:nvPr>
        </p:nvSpPr>
        <p:spPr>
          <a:xfrm>
            <a:off x="7003150" y="35680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_1_1_1_1_1_1_1_1_1_4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 journey ">
  <p:cSld name="CUSTOM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/>
          <p:nvPr/>
        </p:nvSpPr>
        <p:spPr>
          <a:xfrm>
            <a:off x="228600" y="229900"/>
            <a:ext cx="992400" cy="2928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User journey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226" name="Google Shape;226;p32"/>
          <p:cNvSpPr/>
          <p:nvPr>
            <p:ph idx="2" type="pic"/>
          </p:nvPr>
        </p:nvSpPr>
        <p:spPr>
          <a:xfrm>
            <a:off x="230700" y="911875"/>
            <a:ext cx="1751400" cy="2634000"/>
          </a:xfrm>
          <a:prstGeom prst="round2SameRect">
            <a:avLst>
              <a:gd fmla="val 1265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27" name="Google Shape;227;p32"/>
          <p:cNvSpPr txBox="1"/>
          <p:nvPr>
            <p:ph idx="1" type="subTitle"/>
          </p:nvPr>
        </p:nvSpPr>
        <p:spPr>
          <a:xfrm>
            <a:off x="314750" y="3677475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32"/>
          <p:cNvSpPr/>
          <p:nvPr>
            <p:ph idx="3" type="pic"/>
          </p:nvPr>
        </p:nvSpPr>
        <p:spPr>
          <a:xfrm>
            <a:off x="2867100" y="480475"/>
            <a:ext cx="1746300" cy="1337400"/>
          </a:xfrm>
          <a:prstGeom prst="round2SameRect">
            <a:avLst>
              <a:gd fmla="val 11765" name="adj1"/>
              <a:gd fmla="val 0" name="adj2"/>
            </a:avLst>
          </a:prstGeom>
          <a:noFill/>
          <a:ln>
            <a:noFill/>
          </a:ln>
        </p:spPr>
      </p:sp>
      <p:sp>
        <p:nvSpPr>
          <p:cNvPr id="229" name="Google Shape;229;p32"/>
          <p:cNvSpPr/>
          <p:nvPr>
            <p:ph idx="4" type="pic"/>
          </p:nvPr>
        </p:nvSpPr>
        <p:spPr>
          <a:xfrm>
            <a:off x="2867100" y="2804388"/>
            <a:ext cx="1746300" cy="1337400"/>
          </a:xfrm>
          <a:prstGeom prst="round2SameRect">
            <a:avLst>
              <a:gd fmla="val 11765" name="adj1"/>
              <a:gd fmla="val 0" name="adj2"/>
            </a:avLst>
          </a:prstGeom>
          <a:noFill/>
          <a:ln>
            <a:noFill/>
          </a:ln>
        </p:spPr>
      </p:sp>
      <p:sp>
        <p:nvSpPr>
          <p:cNvPr id="230" name="Google Shape;230;p32"/>
          <p:cNvSpPr/>
          <p:nvPr>
            <p:ph idx="5" type="pic"/>
          </p:nvPr>
        </p:nvSpPr>
        <p:spPr>
          <a:xfrm rot="-5400000">
            <a:off x="5934450" y="-27825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231" name="Google Shape;231;p32"/>
          <p:cNvSpPr/>
          <p:nvPr>
            <p:ph idx="6" type="pic"/>
          </p:nvPr>
        </p:nvSpPr>
        <p:spPr>
          <a:xfrm rot="-5400000">
            <a:off x="5934450" y="1470950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232" name="Google Shape;232;p32"/>
          <p:cNvSpPr/>
          <p:nvPr>
            <p:ph idx="7" type="pic"/>
          </p:nvPr>
        </p:nvSpPr>
        <p:spPr>
          <a:xfrm rot="-5400000">
            <a:off x="5934450" y="2969725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233" name="Google Shape;233;p32"/>
          <p:cNvSpPr txBox="1"/>
          <p:nvPr>
            <p:ph idx="8" type="subTitle"/>
          </p:nvPr>
        </p:nvSpPr>
        <p:spPr>
          <a:xfrm>
            <a:off x="2961150" y="1899800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4" name="Google Shape;234;p32"/>
          <p:cNvSpPr txBox="1"/>
          <p:nvPr>
            <p:ph idx="9" type="subTitle"/>
          </p:nvPr>
        </p:nvSpPr>
        <p:spPr>
          <a:xfrm>
            <a:off x="2961150" y="4252075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" name="Google Shape;235;p32"/>
          <p:cNvSpPr txBox="1"/>
          <p:nvPr>
            <p:ph idx="13" type="subTitle"/>
          </p:nvPr>
        </p:nvSpPr>
        <p:spPr>
          <a:xfrm>
            <a:off x="7827000" y="52270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6" name="Google Shape;236;p32"/>
          <p:cNvSpPr txBox="1"/>
          <p:nvPr>
            <p:ph idx="14" type="subTitle"/>
          </p:nvPr>
        </p:nvSpPr>
        <p:spPr>
          <a:xfrm>
            <a:off x="7827000" y="203675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7" name="Google Shape;237;p32"/>
          <p:cNvSpPr txBox="1"/>
          <p:nvPr>
            <p:ph idx="15" type="subTitle"/>
          </p:nvPr>
        </p:nvSpPr>
        <p:spPr>
          <a:xfrm>
            <a:off x="7827000" y="355080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 journey ALT 1">
  <p:cSld name="CUSTOM_2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/>
          <p:nvPr/>
        </p:nvSpPr>
        <p:spPr>
          <a:xfrm>
            <a:off x="228600" y="229900"/>
            <a:ext cx="992400" cy="2928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User journey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240" name="Google Shape;240;p33"/>
          <p:cNvSpPr txBox="1"/>
          <p:nvPr>
            <p:ph idx="1" type="body"/>
          </p:nvPr>
        </p:nvSpPr>
        <p:spPr>
          <a:xfrm>
            <a:off x="347850" y="1888450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•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•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•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•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•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•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•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•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•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33"/>
          <p:cNvSpPr txBox="1"/>
          <p:nvPr>
            <p:ph idx="2" type="body"/>
          </p:nvPr>
        </p:nvSpPr>
        <p:spPr>
          <a:xfrm>
            <a:off x="6079400" y="405850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1pPr>
            <a:lvl2pPr indent="-292100" lvl="1" marL="9144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2pPr>
            <a:lvl3pPr indent="-292100" lvl="2" marL="13716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3pPr>
            <a:lvl4pPr indent="-292100" lvl="3" marL="1828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4pPr>
            <a:lvl5pPr indent="-292100" lvl="4" marL="22860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5pPr>
            <a:lvl6pPr indent="-292100" lvl="5" marL="27432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6pPr>
            <a:lvl7pPr indent="-292100" lvl="6" marL="32004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7pPr>
            <a:lvl8pPr indent="-292100" lvl="7" marL="36576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8pPr>
            <a:lvl9pPr indent="-292100" lvl="8" marL="4114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9pPr>
          </a:lstStyle>
          <a:p/>
        </p:txBody>
      </p:sp>
      <p:sp>
        <p:nvSpPr>
          <p:cNvPr id="242" name="Google Shape;242;p33"/>
          <p:cNvSpPr txBox="1"/>
          <p:nvPr>
            <p:ph idx="3" type="body"/>
          </p:nvPr>
        </p:nvSpPr>
        <p:spPr>
          <a:xfrm>
            <a:off x="6079400" y="1606817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1pPr>
            <a:lvl2pPr indent="-292100" lvl="1" marL="9144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2pPr>
            <a:lvl3pPr indent="-292100" lvl="2" marL="13716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3pPr>
            <a:lvl4pPr indent="-292100" lvl="3" marL="1828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4pPr>
            <a:lvl5pPr indent="-292100" lvl="4" marL="22860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5pPr>
            <a:lvl6pPr indent="-292100" lvl="5" marL="27432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6pPr>
            <a:lvl7pPr indent="-292100" lvl="6" marL="32004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7pPr>
            <a:lvl8pPr indent="-292100" lvl="7" marL="36576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8pPr>
            <a:lvl9pPr indent="-292100" lvl="8" marL="4114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9pPr>
          </a:lstStyle>
          <a:p/>
        </p:txBody>
      </p:sp>
      <p:sp>
        <p:nvSpPr>
          <p:cNvPr id="243" name="Google Shape;243;p33"/>
          <p:cNvSpPr txBox="1"/>
          <p:nvPr>
            <p:ph idx="4" type="body"/>
          </p:nvPr>
        </p:nvSpPr>
        <p:spPr>
          <a:xfrm>
            <a:off x="6079400" y="2807783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1pPr>
            <a:lvl2pPr indent="-292100" lvl="1" marL="9144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2pPr>
            <a:lvl3pPr indent="-292100" lvl="2" marL="13716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3pPr>
            <a:lvl4pPr indent="-292100" lvl="3" marL="1828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4pPr>
            <a:lvl5pPr indent="-292100" lvl="4" marL="22860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5pPr>
            <a:lvl6pPr indent="-292100" lvl="5" marL="27432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6pPr>
            <a:lvl7pPr indent="-292100" lvl="6" marL="32004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7pPr>
            <a:lvl8pPr indent="-292100" lvl="7" marL="36576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8pPr>
            <a:lvl9pPr indent="-292100" lvl="8" marL="4114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9pPr>
          </a:lstStyle>
          <a:p/>
        </p:txBody>
      </p:sp>
      <p:sp>
        <p:nvSpPr>
          <p:cNvPr id="244" name="Google Shape;244;p33"/>
          <p:cNvSpPr txBox="1"/>
          <p:nvPr>
            <p:ph idx="5" type="body"/>
          </p:nvPr>
        </p:nvSpPr>
        <p:spPr>
          <a:xfrm>
            <a:off x="6079400" y="4008750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1pPr>
            <a:lvl2pPr indent="-292100" lvl="1" marL="9144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2pPr>
            <a:lvl3pPr indent="-292100" lvl="2" marL="13716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3pPr>
            <a:lvl4pPr indent="-292100" lvl="3" marL="1828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4pPr>
            <a:lvl5pPr indent="-292100" lvl="4" marL="22860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5pPr>
            <a:lvl6pPr indent="-292100" lvl="5" marL="27432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6pPr>
            <a:lvl7pPr indent="-292100" lvl="6" marL="32004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7pPr>
            <a:lvl8pPr indent="-292100" lvl="7" marL="36576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8pPr>
            <a:lvl9pPr indent="-292100" lvl="8" marL="4114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9pPr>
          </a:lstStyle>
          <a:p/>
        </p:txBody>
      </p:sp>
      <p:sp>
        <p:nvSpPr>
          <p:cNvPr id="245" name="Google Shape;245;p33"/>
          <p:cNvSpPr txBox="1"/>
          <p:nvPr>
            <p:ph idx="6" type="body"/>
          </p:nvPr>
        </p:nvSpPr>
        <p:spPr>
          <a:xfrm>
            <a:off x="3213625" y="662625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1pPr>
            <a:lvl2pPr indent="-292100" lvl="1" marL="9144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2pPr>
            <a:lvl3pPr indent="-292100" lvl="2" marL="13716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3pPr>
            <a:lvl4pPr indent="-292100" lvl="3" marL="1828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4pPr>
            <a:lvl5pPr indent="-292100" lvl="4" marL="22860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5pPr>
            <a:lvl6pPr indent="-292100" lvl="5" marL="27432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6pPr>
            <a:lvl7pPr indent="-292100" lvl="6" marL="32004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7pPr>
            <a:lvl8pPr indent="-292100" lvl="7" marL="36576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8pPr>
            <a:lvl9pPr indent="-292100" lvl="8" marL="4114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9pPr>
          </a:lstStyle>
          <a:p/>
        </p:txBody>
      </p:sp>
      <p:sp>
        <p:nvSpPr>
          <p:cNvPr id="246" name="Google Shape;246;p33"/>
          <p:cNvSpPr txBox="1"/>
          <p:nvPr>
            <p:ph idx="7" type="body"/>
          </p:nvPr>
        </p:nvSpPr>
        <p:spPr>
          <a:xfrm>
            <a:off x="3213625" y="3056300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1pPr>
            <a:lvl2pPr indent="-292100" lvl="1" marL="9144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2pPr>
            <a:lvl3pPr indent="-292100" lvl="2" marL="13716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3pPr>
            <a:lvl4pPr indent="-292100" lvl="3" marL="1828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4pPr>
            <a:lvl5pPr indent="-292100" lvl="4" marL="22860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5pPr>
            <a:lvl6pPr indent="-292100" lvl="5" marL="27432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6pPr>
            <a:lvl7pPr indent="-292100" lvl="6" marL="32004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7pPr>
            <a:lvl8pPr indent="-292100" lvl="7" marL="36576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8pPr>
            <a:lvl9pPr indent="-292100" lvl="8" marL="411480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CUSTOM_3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/>
          <p:nvPr/>
        </p:nvSpPr>
        <p:spPr>
          <a:xfrm rot="5400000">
            <a:off x="-285900" y="285900"/>
            <a:ext cx="5143500" cy="4571700"/>
          </a:xfrm>
          <a:prstGeom prst="round2SameRect">
            <a:avLst>
              <a:gd fmla="val 6890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9" name="Google Shape;249;p34"/>
          <p:cNvSpPr txBox="1"/>
          <p:nvPr>
            <p:ph idx="1" type="subTitle"/>
          </p:nvPr>
        </p:nvSpPr>
        <p:spPr>
          <a:xfrm>
            <a:off x="293700" y="295600"/>
            <a:ext cx="772500" cy="1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4"/>
          <p:cNvSpPr txBox="1"/>
          <p:nvPr>
            <p:ph idx="2" type="subTitle"/>
          </p:nvPr>
        </p:nvSpPr>
        <p:spPr>
          <a:xfrm>
            <a:off x="4810050" y="46240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34"/>
          <p:cNvSpPr txBox="1"/>
          <p:nvPr>
            <p:ph idx="3" type="subTitle"/>
          </p:nvPr>
        </p:nvSpPr>
        <p:spPr>
          <a:xfrm>
            <a:off x="4810050" y="140697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4"/>
          <p:cNvSpPr txBox="1"/>
          <p:nvPr>
            <p:ph idx="4" type="subTitle"/>
          </p:nvPr>
        </p:nvSpPr>
        <p:spPr>
          <a:xfrm>
            <a:off x="4810050" y="235155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34"/>
          <p:cNvSpPr txBox="1"/>
          <p:nvPr>
            <p:ph idx="5" type="subTitle"/>
          </p:nvPr>
        </p:nvSpPr>
        <p:spPr>
          <a:xfrm>
            <a:off x="4810050" y="329612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34"/>
          <p:cNvSpPr txBox="1"/>
          <p:nvPr>
            <p:ph idx="6" type="subTitle"/>
          </p:nvPr>
        </p:nvSpPr>
        <p:spPr>
          <a:xfrm>
            <a:off x="4810050" y="424070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34"/>
          <p:cNvSpPr txBox="1"/>
          <p:nvPr>
            <p:ph type="title"/>
          </p:nvPr>
        </p:nvSpPr>
        <p:spPr>
          <a:xfrm>
            <a:off x="228600" y="1001425"/>
            <a:ext cx="3912900" cy="248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"/>
          <p:cNvSpPr txBox="1"/>
          <p:nvPr>
            <p:ph idx="1" type="subTitle"/>
          </p:nvPr>
        </p:nvSpPr>
        <p:spPr>
          <a:xfrm>
            <a:off x="927475" y="12697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8" name="Google Shape;258;p35"/>
          <p:cNvSpPr txBox="1"/>
          <p:nvPr>
            <p:ph idx="2" type="subTitle"/>
          </p:nvPr>
        </p:nvSpPr>
        <p:spPr>
          <a:xfrm>
            <a:off x="927475" y="20731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59" name="Google Shape;259;p35"/>
          <p:cNvSpPr txBox="1"/>
          <p:nvPr>
            <p:ph idx="3" type="subTitle"/>
          </p:nvPr>
        </p:nvSpPr>
        <p:spPr>
          <a:xfrm>
            <a:off x="927475" y="28913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60" name="Google Shape;260;p35"/>
          <p:cNvSpPr txBox="1"/>
          <p:nvPr>
            <p:ph idx="4" type="subTitle"/>
          </p:nvPr>
        </p:nvSpPr>
        <p:spPr>
          <a:xfrm>
            <a:off x="927475" y="36926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261" name="Google Shape;261;p35"/>
          <p:cNvSpPr txBox="1"/>
          <p:nvPr>
            <p:ph idx="5" type="subTitle"/>
          </p:nvPr>
        </p:nvSpPr>
        <p:spPr>
          <a:xfrm>
            <a:off x="228600" y="12697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62" name="Google Shape;262;p35"/>
          <p:cNvSpPr txBox="1"/>
          <p:nvPr>
            <p:ph idx="6" type="subTitle"/>
          </p:nvPr>
        </p:nvSpPr>
        <p:spPr>
          <a:xfrm>
            <a:off x="228600" y="20731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63" name="Google Shape;263;p35"/>
          <p:cNvSpPr txBox="1"/>
          <p:nvPr>
            <p:ph idx="7" type="subTitle"/>
          </p:nvPr>
        </p:nvSpPr>
        <p:spPr>
          <a:xfrm>
            <a:off x="228600" y="28913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64" name="Google Shape;264;p35"/>
          <p:cNvSpPr txBox="1"/>
          <p:nvPr>
            <p:ph idx="8" type="subTitle"/>
          </p:nvPr>
        </p:nvSpPr>
        <p:spPr>
          <a:xfrm>
            <a:off x="228600" y="36926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ITLE_1_1_4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"/>
          <p:cNvSpPr/>
          <p:nvPr/>
        </p:nvSpPr>
        <p:spPr>
          <a:xfrm>
            <a:off x="6625332" y="229950"/>
            <a:ext cx="2283000" cy="2283000"/>
          </a:xfrm>
          <a:prstGeom prst="roundRect">
            <a:avLst>
              <a:gd fmla="val 1221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7" name="Google Shape;267;p36"/>
          <p:cNvSpPr/>
          <p:nvPr/>
        </p:nvSpPr>
        <p:spPr>
          <a:xfrm>
            <a:off x="235213" y="229950"/>
            <a:ext cx="6282300" cy="4683600"/>
          </a:xfrm>
          <a:prstGeom prst="roundRect">
            <a:avLst>
              <a:gd fmla="val 584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8" name="Google Shape;268;p36"/>
          <p:cNvSpPr/>
          <p:nvPr/>
        </p:nvSpPr>
        <p:spPr>
          <a:xfrm>
            <a:off x="6625786" y="2630415"/>
            <a:ext cx="2283000" cy="2283000"/>
          </a:xfrm>
          <a:prstGeom prst="roundRect">
            <a:avLst>
              <a:gd fmla="val 122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Google Shape;269;p36"/>
          <p:cNvSpPr txBox="1"/>
          <p:nvPr>
            <p:ph type="title"/>
          </p:nvPr>
        </p:nvSpPr>
        <p:spPr>
          <a:xfrm>
            <a:off x="570013" y="3961157"/>
            <a:ext cx="5582100" cy="60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descr="A donut shape" id="270" name="Google Shape;270;p36"/>
          <p:cNvSpPr/>
          <p:nvPr/>
        </p:nvSpPr>
        <p:spPr>
          <a:xfrm>
            <a:off x="7134588" y="3139675"/>
            <a:ext cx="1264500" cy="1264500"/>
          </a:xfrm>
          <a:prstGeom prst="donut">
            <a:avLst>
              <a:gd fmla="val 25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descr="A star icon" id="271" name="Google Shape;271;p36"/>
          <p:cNvSpPr/>
          <p:nvPr/>
        </p:nvSpPr>
        <p:spPr>
          <a:xfrm>
            <a:off x="7092288" y="697800"/>
            <a:ext cx="1349100" cy="1347300"/>
          </a:xfrm>
          <a:prstGeom prst="plaque">
            <a:avLst>
              <a:gd fmla="val 44918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9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Relationship Id="rId4" Type="http://schemas.openxmlformats.org/officeDocument/2006/relationships/image" Target="../media/image4.jpg"/><Relationship Id="rId5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9.jpg"/><Relationship Id="rId5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7"/>
          <p:cNvSpPr txBox="1"/>
          <p:nvPr/>
        </p:nvSpPr>
        <p:spPr>
          <a:xfrm>
            <a:off x="2400900" y="1299200"/>
            <a:ext cx="4342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Fashion Shazam</a:t>
            </a:r>
            <a:endParaRPr sz="45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7"/>
          <p:cNvSpPr txBox="1"/>
          <p:nvPr/>
        </p:nvSpPr>
        <p:spPr>
          <a:xfrm>
            <a:off x="2753100" y="3096550"/>
            <a:ext cx="3637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Final Project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Team 16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12/07/2026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/>
          <p:nvPr/>
        </p:nvSpPr>
        <p:spPr>
          <a:xfrm>
            <a:off x="381075" y="265800"/>
            <a:ext cx="536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Motivation &amp; Business Use Case</a:t>
            </a:r>
            <a:endParaRPr sz="3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8"/>
          <p:cNvSpPr txBox="1"/>
          <p:nvPr/>
        </p:nvSpPr>
        <p:spPr>
          <a:xfrm>
            <a:off x="381075" y="1341725"/>
            <a:ext cx="50991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“That outfit is tough. I wish I knew </a:t>
            </a:r>
            <a:r>
              <a:rPr b="1" lang="en" sz="34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lang="en" sz="34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 its from and how much it </a:t>
            </a:r>
            <a:r>
              <a:rPr b="1" lang="en" sz="34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costs</a:t>
            </a:r>
            <a:r>
              <a:rPr lang="en" sz="34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. ” </a:t>
            </a:r>
            <a:endParaRPr sz="34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azam User Guide - Apple Support" id="284" name="Google Shape;28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8025" y="3338970"/>
            <a:ext cx="1581925" cy="158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pop - Buy &amp; Sell Clothes - Apps on Google Play" id="285" name="Google Shape;28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2713" y="3338975"/>
            <a:ext cx="1581925" cy="158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ockX - Sneakers and Apparel - APK Download for Android | Aptoide" id="286" name="Google Shape;286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075" y="3338975"/>
            <a:ext cx="1581925" cy="158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8" title="39C8372A-4BC6-40FC-A683-B75977B732B3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03275" y="358237"/>
            <a:ext cx="2791250" cy="3721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9"/>
          <p:cNvSpPr txBox="1"/>
          <p:nvPr/>
        </p:nvSpPr>
        <p:spPr>
          <a:xfrm>
            <a:off x="381075" y="265800"/>
            <a:ext cx="536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 sz="3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9"/>
          <p:cNvSpPr txBox="1"/>
          <p:nvPr/>
        </p:nvSpPr>
        <p:spPr>
          <a:xfrm>
            <a:off x="467100" y="912300"/>
            <a:ext cx="58743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AutoNum type="arabicPeriod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Fashion MNIST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AutoNum type="alphaLcPeriod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Train Category Classification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AutoNum type="alphaLcPeriod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60,000 train / 10,000 test; resized -&gt; 224x224 RBG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AutoNum type="arabicPeriod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H&amp;M Product Dataset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AutoNum type="alphaLcPeriod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Train Price Estimation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AutoNum type="alphaLcPeriod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High-resolution images + metadata price labels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&amp;M | Online Fashion, Homeware &amp; Kids ..." id="294" name="Google Shape;29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4425" y="156600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0"/>
          <p:cNvSpPr txBox="1"/>
          <p:nvPr/>
        </p:nvSpPr>
        <p:spPr>
          <a:xfrm>
            <a:off x="381075" y="265800"/>
            <a:ext cx="536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Model Architecture</a:t>
            </a:r>
            <a:endParaRPr sz="3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40"/>
          <p:cNvSpPr txBox="1"/>
          <p:nvPr/>
        </p:nvSpPr>
        <p:spPr>
          <a:xfrm>
            <a:off x="381075" y="940200"/>
            <a:ext cx="6109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2-Stage Deep Learning Pipeline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AutoNum type="arabicPeriod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AutoNum type="alphaLcPeriod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ResNet-18 (ImageNet-pretrained) to detect clothing category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AutoNum type="alphaLcPeriod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10-class softmax output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AutoNum type="arabicPeriod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Regression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AutoNum type="alphaLcPeriod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Replace softmax with a price-prediction layer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AutoNum type="alphaLcPeriod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Freeze early layers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AutoNum type="alphaLcPeriod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Train only regression head using RMSE loss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dvantages of an AI-Powered Observability Pipeline" id="301" name="Google Shape;30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275" y="1014813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1"/>
          <p:cNvSpPr txBox="1"/>
          <p:nvPr/>
        </p:nvSpPr>
        <p:spPr>
          <a:xfrm>
            <a:off x="381075" y="265800"/>
            <a:ext cx="66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Training &amp; Implementation Details</a:t>
            </a:r>
            <a:endParaRPr sz="3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1"/>
          <p:cNvSpPr txBox="1"/>
          <p:nvPr/>
        </p:nvSpPr>
        <p:spPr>
          <a:xfrm>
            <a:off x="467100" y="912300"/>
            <a:ext cx="2805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AutoNum type="arabicPeriod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Batch Size 128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AutoNum type="arabicPeriod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AdamW Optimizer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AutoNum type="arabicPeriod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Cosine LR Scheduler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AutoNum type="arabicPeriod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Light Augmentation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AutoNum type="arabicPeriod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Model Checkpoints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1"/>
          <p:cNvSpPr txBox="1"/>
          <p:nvPr/>
        </p:nvSpPr>
        <p:spPr>
          <a:xfrm>
            <a:off x="3428975" y="912300"/>
            <a:ext cx="5464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AutoNum type="arabicPeriod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GPU Efficiency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AutoNum type="arabicPeriod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Better Generalization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AutoNum type="arabicPeriod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Stable Convergence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AutoNum type="arabicPeriod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Reduce Overfitting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AutoNum type="arabicPeriod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Best-model Preservation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"/>
          <p:cNvSpPr txBox="1"/>
          <p:nvPr/>
        </p:nvSpPr>
        <p:spPr>
          <a:xfrm>
            <a:off x="381075" y="265800"/>
            <a:ext cx="536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sz="3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2"/>
          <p:cNvSpPr txBox="1"/>
          <p:nvPr/>
        </p:nvSpPr>
        <p:spPr>
          <a:xfrm>
            <a:off x="467100" y="912300"/>
            <a:ext cx="527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95.43%</a:t>
            </a: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 accuracy on Fashion MNIST Test Set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2"/>
          <p:cNvSpPr txBox="1"/>
          <p:nvPr/>
        </p:nvSpPr>
        <p:spPr>
          <a:xfrm>
            <a:off x="541200" y="1471800"/>
            <a:ext cx="527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Learns quickly &amp; generalizes well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p42" title="IMG_114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3200" y="680288"/>
            <a:ext cx="3286649" cy="3040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2" title="IMG_0447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500" y="2714200"/>
            <a:ext cx="2809350" cy="221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2" title="IMG_5068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3849" y="2706311"/>
            <a:ext cx="2809350" cy="2235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3"/>
          <p:cNvSpPr txBox="1"/>
          <p:nvPr/>
        </p:nvSpPr>
        <p:spPr>
          <a:xfrm>
            <a:off x="381075" y="265800"/>
            <a:ext cx="536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Price Estimation</a:t>
            </a:r>
            <a:endParaRPr sz="3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43" title="Screenshot 2025-12-07 at 19.32.4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000" y="2706750"/>
            <a:ext cx="4012500" cy="203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3" title="Screenshot 2025-12-07 at 19.32.58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6774" y="1549775"/>
            <a:ext cx="3949489" cy="211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3" title="Screenshot 2025-12-07 at 19.32.51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7525" y="140900"/>
            <a:ext cx="3949501" cy="2046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4"/>
          <p:cNvSpPr txBox="1"/>
          <p:nvPr/>
        </p:nvSpPr>
        <p:spPr>
          <a:xfrm>
            <a:off x="381075" y="265800"/>
            <a:ext cx="536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Deployment Vision</a:t>
            </a:r>
            <a:endParaRPr sz="3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4"/>
          <p:cNvSpPr txBox="1"/>
          <p:nvPr/>
        </p:nvSpPr>
        <p:spPr>
          <a:xfrm>
            <a:off x="249150" y="2494150"/>
            <a:ext cx="8645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Upload -&gt; Classify -&gt; Estimate -&gt; Link Similar Recommendations!</a:t>
            </a:r>
            <a:endParaRPr b="1" sz="25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4"/>
          <p:cNvSpPr txBox="1"/>
          <p:nvPr/>
        </p:nvSpPr>
        <p:spPr>
          <a:xfrm>
            <a:off x="482750" y="3063550"/>
            <a:ext cx="36378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Char char="-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Automated Pricing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Char char="-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Marketplace Conversions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Char char="-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Trend Analytics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Char char="-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Inventory Value Optimization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4"/>
          <p:cNvSpPr txBox="1"/>
          <p:nvPr/>
        </p:nvSpPr>
        <p:spPr>
          <a:xfrm>
            <a:off x="2400900" y="1299200"/>
            <a:ext cx="4342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Website &amp; App!!!</a:t>
            </a:r>
            <a:endParaRPr sz="35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artoon Mobile Stock Illustrations – 378,756 Cartoon Mobile ..." id="335" name="Google Shape;33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2700" y="90299"/>
            <a:ext cx="1806575" cy="240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5"/>
          <p:cNvSpPr txBox="1"/>
          <p:nvPr/>
        </p:nvSpPr>
        <p:spPr>
          <a:xfrm>
            <a:off x="381075" y="265800"/>
            <a:ext cx="536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Challenges &amp; Next Steps</a:t>
            </a:r>
            <a:endParaRPr sz="3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45"/>
          <p:cNvSpPr txBox="1"/>
          <p:nvPr/>
        </p:nvSpPr>
        <p:spPr>
          <a:xfrm>
            <a:off x="467100" y="912300"/>
            <a:ext cx="3637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Char char="-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Limited Visual Variation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Char char="-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10 Categories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Char char="-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No Brand/Material Cues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Char char="-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Colab Compute Ceiling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owning face emoji — Emoji Family" id="342" name="Google Shape;34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9500" y="889550"/>
            <a:ext cx="3364400" cy="336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 txBox="1"/>
          <p:nvPr/>
        </p:nvSpPr>
        <p:spPr>
          <a:xfrm>
            <a:off x="381075" y="265800"/>
            <a:ext cx="536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Conclusion &amp; Takeaway</a:t>
            </a:r>
            <a:endParaRPr sz="3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46"/>
          <p:cNvSpPr txBox="1"/>
          <p:nvPr/>
        </p:nvSpPr>
        <p:spPr>
          <a:xfrm>
            <a:off x="467100" y="912300"/>
            <a:ext cx="5365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Char char="-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Deep learning can identify fashion items accurately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Char char="-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Pricing signals are learnable from product data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Char char="-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Platform has strong commercialization potential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Char char="-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Recommend similar products/styles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Char char="-"/>
            </a:pPr>
            <a:r>
              <a:rPr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Incorporated into fashion brands &amp; aesthetic media</a:t>
            </a:r>
            <a:endParaRPr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000"/>
              <a:buFont typeface="Calibri"/>
              <a:buChar char="-"/>
            </a:pPr>
            <a:r>
              <a:rPr b="1" lang="en" sz="2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Bright future</a:t>
            </a:r>
            <a:endParaRPr b="1" sz="20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dels From Around the World Celebrate ..." id="349" name="Google Shape;34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2750" y="1298888"/>
            <a:ext cx="3324175" cy="248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Duke Light">
      <a:dk1>
        <a:srgbClr val="001A57"/>
      </a:dk1>
      <a:lt1>
        <a:srgbClr val="FFFFFF"/>
      </a:lt1>
      <a:dk2>
        <a:srgbClr val="666666"/>
      </a:dk2>
      <a:lt2>
        <a:srgbClr val="E2E6ED"/>
      </a:lt2>
      <a:accent1>
        <a:srgbClr val="005587"/>
      </a:accent1>
      <a:accent2>
        <a:srgbClr val="0577B1"/>
      </a:accent2>
      <a:accent3>
        <a:srgbClr val="FFD960"/>
      </a:accent3>
      <a:accent4>
        <a:srgbClr val="C84E00"/>
      </a:accent4>
      <a:accent5>
        <a:srgbClr val="993399"/>
      </a:accent5>
      <a:accent6>
        <a:srgbClr val="339898"/>
      </a:accent6>
      <a:hlink>
        <a:srgbClr val="E89923"/>
      </a:hlink>
      <a:folHlink>
        <a:srgbClr val="E8992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